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-23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bubble3D val="0"/>
            <c:spPr>
              <a:solidFill>
                <a:srgbClr val="4ADE80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6.0748628012407539E-2"/>
                  <c:y val="0.18849206349206349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Без инструментов</c:v>
                </c:pt>
                <c:pt idx="1">
                  <c:v>Частичные решения</c:v>
                </c:pt>
                <c:pt idx="2">
                  <c:v>Нет доступа к данным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900">
                <a:solidFill>
                  <a:schemeClr val="bg1"/>
                </a:solidFill>
              </a:defRPr>
            </a:pPr>
            <a:endParaRPr lang="ru-RU"/>
          </a:p>
        </c:txPr>
      </c:legendEntry>
      <c:legendEntry>
        <c:idx val="1"/>
        <c:txPr>
          <a:bodyPr/>
          <a:lstStyle/>
          <a:p>
            <a:pPr>
              <a:defRPr sz="900">
                <a:solidFill>
                  <a:schemeClr val="bg1"/>
                </a:solidFill>
              </a:defRPr>
            </a:pPr>
            <a:endParaRPr lang="ru-RU"/>
          </a:p>
        </c:txPr>
      </c:legendEntry>
      <c:legendEntry>
        <c:idx val="2"/>
        <c:txPr>
          <a:bodyPr/>
          <a:lstStyle/>
          <a:p>
            <a:pPr>
              <a:defRPr sz="900">
                <a:solidFill>
                  <a:schemeClr val="bg1"/>
                </a:solidFill>
              </a:defRPr>
            </a:pPr>
            <a:endParaRPr lang="ru-RU"/>
          </a:p>
        </c:txPr>
      </c:legendEntry>
      <c:layout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span"/>
    <c:showDLblsOverMax val="1"/>
  </c:chart>
  <c:spPr>
    <a:solidFill>
      <a:srgbClr val="070D0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0CB53-93A0-430D-8977-4103F0603199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A860A-C56C-4F8A-923E-6ABEDD9695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18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111A12"/>
          </a:solidFill>
          <a:ln w="12700">
            <a:solidFill>
              <a:srgbClr val="11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11480"/>
            <a:ext cx="822960" cy="822960"/>
          </a:xfrm>
          <a:prstGeom prst="ellipse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32588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AgroMind KZ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47472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платформа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экологического мониторинга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Центральной Азии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47472" y="3337560"/>
            <a:ext cx="2377440" cy="64008"/>
          </a:xfrm>
          <a:prstGeom prst="rect">
            <a:avLst/>
          </a:prstGeom>
          <a:solidFill>
            <a:srgbClr val="3A4E3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34930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&amp; Digital Solutions for Central Asia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" y="3950208"/>
            <a:ext cx="2286000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ХАКАТЯТА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166360" y="274320"/>
            <a:ext cx="3749040" cy="13716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57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4389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пожаров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943600" y="896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· 4 раза в сутки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166360" y="1828800"/>
            <a:ext cx="3749040" cy="13716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0116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1993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ИИ-агроном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943600" y="2450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фото · рекомендации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166360" y="3383280"/>
            <a:ext cx="3749040" cy="13716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35661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0" y="3547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АПК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943600" y="4005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Субсидии · урожайность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гектаров теряются без контроля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9144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07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Пожары уничтожают урожай ежегодно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млн га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114800" cy="14630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91440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07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Фермер узнаёт о пожаре — видя дым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3212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часов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788920"/>
            <a:ext cx="91440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971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 по 10+ порталам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300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неудобно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4754880" y="2788920"/>
            <a:ext cx="4114800" cy="14630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788920"/>
            <a:ext cx="91440" cy="1463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9718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953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Расхождения в субсидиях до 11%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32120" y="3474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млрд ₸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805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44622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AgroMind KZ: единая платформа раннего предупреждения и контроля субсидий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AgroMind KZ решает проблему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69080" cy="1691640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70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пожаров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0352" y="17556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Спутники NASA FIRMS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4 раза в сутки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экологии по региону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069080" cy="1691640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7043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70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ИИ-агроном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28032" y="17556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фото урожая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болезней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за 10 секунд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069080" cy="16916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44952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044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30352" y="3630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Спутниковая верификация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аномалий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АПК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4069080" cy="169164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044952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3044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Урожайность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828032" y="3630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регионам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2022–2024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и тренды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3200" dirty="0"/>
          </a:p>
        </p:txBody>
      </p:sp>
      <p:pic>
        <p:nvPicPr>
          <p:cNvPr id="1026" name="Picture 2" descr="C:\Users\Алмат\Downloads\AgroMindKZ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722" y="1166338"/>
            <a:ext cx="1485767" cy="1485767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30"/>
          <a:stretch/>
        </p:blipFill>
        <p:spPr bwMode="auto">
          <a:xfrm>
            <a:off x="647699" y="883987"/>
            <a:ext cx="3550920" cy="176811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" r="3029" b="5244"/>
          <a:stretch/>
        </p:blipFill>
        <p:spPr bwMode="auto">
          <a:xfrm>
            <a:off x="647699" y="2957651"/>
            <a:ext cx="3550920" cy="187432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8" name="Text 1"/>
          <p:cNvSpPr/>
          <p:nvPr/>
        </p:nvSpPr>
        <p:spPr>
          <a:xfrm>
            <a:off x="4644721" y="777241"/>
            <a:ext cx="3795423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400" b="1" i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на </a:t>
            </a:r>
            <a:r>
              <a:rPr lang="en-US" sz="1400" b="1" i="1" dirty="0" err="1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AgroMindKZ</a:t>
            </a:r>
            <a:endParaRPr lang="en-US" sz="1400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722" y="2950924"/>
            <a:ext cx="3550920" cy="1881049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3" name="Прямоугольник 22"/>
          <p:cNvSpPr/>
          <p:nvPr/>
        </p:nvSpPr>
        <p:spPr>
          <a:xfrm>
            <a:off x="6347460" y="1166338"/>
            <a:ext cx="1848182" cy="1485767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 1"/>
          <p:cNvSpPr/>
          <p:nvPr/>
        </p:nvSpPr>
        <p:spPr>
          <a:xfrm>
            <a:off x="6420182" y="1242062"/>
            <a:ext cx="1775460" cy="134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i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</a:t>
            </a:r>
            <a:r>
              <a:rPr lang="ru-RU" sz="1100" b="1" i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</a:t>
            </a:r>
          </a:p>
          <a:p>
            <a:pPr algn="ctr"/>
            <a:endParaRPr lang="ru-RU" sz="1100" b="1" i="1" dirty="0" smtClean="0">
              <a:solidFill>
                <a:srgbClr val="4ADE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ru-RU" sz="500" b="1" i="1" dirty="0">
              <a:solidFill>
                <a:srgbClr val="4ADE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ru-RU" sz="1100" b="1" i="1" dirty="0" smtClean="0">
              <a:solidFill>
                <a:srgbClr val="4ADE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b="1" i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r>
              <a:rPr lang="en-US" sz="1100" b="1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</a:t>
            </a:r>
            <a:r>
              <a:rPr lang="en-US" sz="1100" b="1" i="1" dirty="0" smtClean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146.190.221.66:8080</a:t>
            </a:r>
            <a:endParaRPr lang="en-US" sz="1100" b="1" i="1" dirty="0">
              <a:solidFill>
                <a:srgbClr val="4ADE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ru-RU" sz="1100" b="1" i="1" dirty="0" smtClean="0">
              <a:solidFill>
                <a:srgbClr val="4ADE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37248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меняется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 → Станет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566160" cy="749808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06424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143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 — видит дым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1133856"/>
            <a:ext cx="45720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5152" y="960120"/>
            <a:ext cx="4133088" cy="749808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773168" y="114300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за 6 часов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65760" y="1892808"/>
            <a:ext cx="3566160" cy="749808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3911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0756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Агроном едет на поле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066544"/>
            <a:ext cx="457200" cy="4114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45152" y="1892808"/>
            <a:ext cx="4133088" cy="749808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773168" y="207568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→ 10 секунд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365760" y="2825496"/>
            <a:ext cx="3566160" cy="749808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7180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24128" y="3008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Субсидии непрозрачны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2999232"/>
            <a:ext cx="457200" cy="4114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645152" y="2825496"/>
            <a:ext cx="4133088" cy="749808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773168" y="300837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мониторинг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365760" y="3758184"/>
            <a:ext cx="3566160" cy="749808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04488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24128" y="39410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на 10 порталах</a:t>
            </a:r>
            <a:endParaRPr lang="en-US" sz="14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3931920"/>
            <a:ext cx="457200" cy="4114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4645152" y="3758184"/>
            <a:ext cx="4133088" cy="749808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4773168" y="3941064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solidFill>
            <a:srgbClr val="1A2E1B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AgroMind KZ — цифровая безопасность сельского хозяйства Центральной Азии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спроса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данные подтверждают масштаб проблемы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1920240" cy="2377440"/>
          </a:xfrm>
          <a:prstGeom prst="rect">
            <a:avLst/>
          </a:prstGeom>
          <a:solidFill>
            <a:srgbClr val="111A12"/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38988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15 000+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47472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пожаров в год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МЧС Казахстан 2024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14600" y="1234440"/>
            <a:ext cx="1920240" cy="2377440"/>
          </a:xfrm>
          <a:prstGeom prst="rect">
            <a:avLst/>
          </a:prstGeom>
          <a:solidFill>
            <a:srgbClr val="111A12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38988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14600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млн га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251460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потерь ежегодно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1460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сельхозземель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81728" y="1234440"/>
            <a:ext cx="1920240" cy="2377440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38988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1728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млн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681728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занятых в АПК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681728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потенц. пользователей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48856" y="1234440"/>
            <a:ext cx="1920240" cy="2377440"/>
          </a:xfrm>
          <a:prstGeom prst="rect">
            <a:avLst/>
          </a:prstGeom>
          <a:solidFill>
            <a:srgbClr val="111A12"/>
          </a:solidFill>
          <a:ln w="12700">
            <a:solidFill>
              <a:srgbClr val="EAB30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89888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48856" y="2011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848856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расхождений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48856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субсидиях</a:t>
            </a:r>
            <a:endParaRPr lang="en-US" sz="10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885731738"/>
              </p:ext>
            </p:extLst>
          </p:nvPr>
        </p:nvGraphicFramePr>
        <p:xfrm>
          <a:off x="365760" y="3703320"/>
          <a:ext cx="502920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5577840" y="3749040"/>
            <a:ext cx="3200400" cy="1188720"/>
          </a:xfrm>
          <a:prstGeom prst="rect">
            <a:avLst/>
          </a:prstGeom>
          <a:solidFill>
            <a:srgbClr val="1A2E1B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577840" y="3794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Единого решения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рынке ЦА нет</a:t>
            </a:r>
            <a:endParaRPr lang="en-US" sz="18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сегмента монетизации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25296"/>
            <a:ext cx="2651760" cy="3575304"/>
          </a:xfrm>
          <a:prstGeom prst="rect">
            <a:avLst/>
          </a:prstGeom>
          <a:solidFill>
            <a:srgbClr val="111A12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25296"/>
            <a:ext cx="2651760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71907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331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28346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МСХ, МЧС Казахстана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34015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субсидий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39684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/ лицензия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1225296"/>
            <a:ext cx="2651760" cy="3575304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225296"/>
            <a:ext cx="2651760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91840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719072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331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Агрохолдинги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56432" y="28346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KazAgro, RusAgro KZ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56432" y="34015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API-доступ к данным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56432" y="39684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$99+/мес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1225296"/>
            <a:ext cx="2651760" cy="3575304"/>
          </a:xfrm>
          <a:prstGeom prst="rect">
            <a:avLst/>
          </a:prstGeom>
          <a:solidFill>
            <a:srgbClr val="111A12"/>
          </a:solidFill>
          <a:ln w="12700">
            <a:solidFill>
              <a:srgbClr val="EAB30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225296"/>
            <a:ext cx="265176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0" y="1225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1719072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2331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Фермеры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82512" y="283464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</a:t>
            </a: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базово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382512" y="340156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ИИ-агроном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82512" y="396849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$5/мес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Монетизация: подписка · API-доступ · аналитика для госорганов · white-label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АПК Центральной Азии — огромный и неохваченный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9909" y="1176525"/>
            <a:ext cx="3835099" cy="3668355"/>
          </a:xfrm>
          <a:prstGeom prst="ellipse">
            <a:avLst/>
          </a:prstGeom>
          <a:solidFill>
            <a:srgbClr val="0A1F0A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3511" y="1676756"/>
            <a:ext cx="2667894" cy="2667894"/>
          </a:xfrm>
          <a:prstGeom prst="ellipse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176986"/>
            <a:ext cx="1417319" cy="1667434"/>
          </a:xfrm>
          <a:prstGeom prst="ellipse">
            <a:avLst/>
          </a:prstGeom>
          <a:solidFill>
            <a:srgbClr val="1A402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013" y="14584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76213" y="17785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43098" y="27752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3931920" cy="1207008"/>
          </a:xfrm>
          <a:prstGeom prst="rect">
            <a:avLst/>
          </a:prstGeom>
          <a:solidFill>
            <a:srgbClr val="111A12"/>
          </a:solidFill>
          <a:ln w="12700">
            <a:solidFill>
              <a:srgbClr val="A0B0A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06984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32120" y="10332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09360" y="1033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$15+ млрд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10912" y="1618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АПК Центральной Азии (5 стран)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2331720"/>
            <a:ext cx="3931920" cy="1207008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244144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32120" y="24048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309360" y="24048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 млрд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010912" y="2990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АПК Казахстана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46320" y="3703320"/>
            <a:ext cx="3931920" cy="1207008"/>
          </a:xfrm>
          <a:prstGeom prst="rect">
            <a:avLst/>
          </a:prstGeom>
          <a:solidFill>
            <a:srgbClr val="111A12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381304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32120" y="37764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309360" y="37764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 млн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5010912" y="4361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Пилот: 3 региона × 1000 хозяйств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AgroMind KZ — единственное all-in-one решение для ЦА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697716"/>
              </p:ext>
            </p:extLst>
          </p:nvPr>
        </p:nvGraphicFramePr>
        <p:xfrm>
          <a:off x="365760" y="1005840"/>
          <a:ext cx="7927848" cy="3584448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1417320"/>
                <a:gridCol w="1417320"/>
                <a:gridCol w="1572768"/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NASA FIRMS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agrodata.kz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Казгидромет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70D08"/>
                          </a:solidFill>
                        </a:rPr>
                        <a:t>AgroMind KZ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67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Карта пожаров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ИИ-агроном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Анализ субсидий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Удобный интерфейс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Охват ЦА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EAB308"/>
                          </a:solidFill>
                        </a:rPr>
                        <a:t>Открытые данные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0E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26363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4708075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преимущество — всё в одном интерфейсе + ИИ-агроном</a:t>
            </a:r>
            <a:endParaRPr lang="en-US" sz="13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1663045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864" y="1656713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44" y="3189482"/>
            <a:ext cx="236014" cy="20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045" y="3185172"/>
            <a:ext cx="236014" cy="20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965" y="1636692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2172584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864" y="2167636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965" y="2152852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2683950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864" y="2678559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965" y="2669012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3195316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864" y="3701387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965" y="3702314"/>
            <a:ext cx="214175" cy="207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3706682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115" y="4216219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232" y="4212308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333" y="4218474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1636692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2151815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2666938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3182061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4212307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459" y="3697184"/>
            <a:ext cx="205439" cy="205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затраты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инфраструктура — открытые источники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8412480" cy="45720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101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7101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API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52160" y="127101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1298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сервис США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719072"/>
            <a:ext cx="8412480" cy="4572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830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7830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Казстат / МСХ РК / giprozem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52160" y="1783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4380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данные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" y="2231136"/>
            <a:ext cx="8412480" cy="45720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29514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295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сервер (2 CPU, 4GB RAM)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852160" y="22951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~$20/мес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072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2807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AI (~2000 req)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852160" y="2807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~$3/мес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5438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ИИ-агроном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255264"/>
            <a:ext cx="8412480" cy="457200"/>
          </a:xfrm>
          <a:prstGeom prst="rect">
            <a:avLst/>
          </a:prstGeom>
          <a:solidFill>
            <a:srgbClr val="111A12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31927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3192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self-hosted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852160" y="33192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54380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5760" y="3767328"/>
            <a:ext cx="8412480" cy="457200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831336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120" y="38313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+ SSL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5852160" y="3831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~$2/мес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365760" y="4352544"/>
            <a:ext cx="8412480" cy="594360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4434840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24128" y="442569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1800" dirty="0"/>
          </a:p>
        </p:txBody>
      </p:sp>
      <p:sp>
        <p:nvSpPr>
          <p:cNvPr id="35" name="Text 26"/>
          <p:cNvSpPr/>
          <p:nvPr/>
        </p:nvSpPr>
        <p:spPr>
          <a:xfrm>
            <a:off x="5029200" y="44074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~$25/мес</a:t>
            </a:r>
            <a:endParaRPr lang="en-US" sz="2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Экономический эффект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69080" cy="4069080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950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фермера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813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1463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млн ₸ на хозяйство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048256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029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площадей = сотни млн ₸/год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15184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2596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заменяет агронома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8211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163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15–50 тыс ₸/визит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365760" y="4114800"/>
            <a:ext cx="4069080" cy="530352"/>
          </a:xfrm>
          <a:prstGeom prst="rect">
            <a:avLst/>
          </a:prstGeom>
          <a:solidFill>
            <a:srgbClr val="0D2A0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365760" y="41330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5–50 млн ₸  на хозяйство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4709160" y="822960"/>
            <a:ext cx="4069080" cy="4069080"/>
          </a:xfrm>
          <a:prstGeom prst="rect">
            <a:avLst/>
          </a:prstGeom>
          <a:solidFill>
            <a:srgbClr val="111A12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960120"/>
            <a:ext cx="411480" cy="4114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49240" y="950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государства</a:t>
            </a:r>
            <a:endParaRPr lang="en-US" sz="16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81328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230368" y="1463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субсидий</a:t>
            </a:r>
            <a:endParaRPr lang="en-US" sz="13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48256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30368" y="2029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необоснованных выплат</a:t>
            </a:r>
            <a:endParaRPr lang="en-US" sz="13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15184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230368" y="259689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млрд ₸ потерь (Костанай)</a:t>
            </a:r>
            <a:endParaRPr lang="en-US" sz="13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82112"/>
            <a:ext cx="274320" cy="27432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230368" y="3163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АПК</a:t>
            </a:r>
            <a:endParaRPr lang="en-US" sz="1300" dirty="0"/>
          </a:p>
        </p:txBody>
      </p:sp>
      <p:sp>
        <p:nvSpPr>
          <p:cNvPr id="27" name="Shape 15"/>
          <p:cNvSpPr/>
          <p:nvPr/>
        </p:nvSpPr>
        <p:spPr>
          <a:xfrm>
            <a:off x="4709160" y="4114800"/>
            <a:ext cx="4069080" cy="530352"/>
          </a:xfrm>
          <a:prstGeom prst="rect">
            <a:avLst/>
          </a:prstGeom>
          <a:solidFill>
            <a:srgbClr val="0D2A0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16"/>
          <p:cNvSpPr/>
          <p:nvPr/>
        </p:nvSpPr>
        <p:spPr>
          <a:xfrm>
            <a:off x="4709160" y="413308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млрд ₸  потерь выявлено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 и план развития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 → Где хотим оказаться → Как попадём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8046720" cy="0"/>
          </a:xfrm>
          <a:prstGeom prst="line">
            <a:avLst/>
          </a:prstGeom>
          <a:noFill/>
          <a:ln w="12700">
            <a:solidFill>
              <a:srgbClr val="3A4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2587752"/>
            <a:ext cx="402336" cy="40233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240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Мы здесь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1920240" cy="1737360"/>
          </a:xfrm>
          <a:prstGeom prst="rect">
            <a:avLst/>
          </a:prstGeom>
          <a:solidFill>
            <a:srgbClr val="111A12"/>
          </a:solidFill>
          <a:ln w="12700">
            <a:solidFill>
              <a:srgbClr val="00E67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3200400"/>
            <a:ext cx="1920240" cy="4572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218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3075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187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готов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4425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+ ИИ-чат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Субсидии + урожайность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01568" y="2587752"/>
            <a:ext cx="402336" cy="40233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51760" y="3200400"/>
            <a:ext cx="1920240" cy="1737360"/>
          </a:xfrm>
          <a:prstGeom prst="rect">
            <a:avLst/>
          </a:prstGeom>
          <a:solidFill>
            <a:srgbClr val="111A12"/>
          </a:solidFill>
          <a:ln w="12700">
            <a:solidFill>
              <a:srgbClr val="4ADE8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51760" y="3200400"/>
            <a:ext cx="1920240" cy="457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3218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месяц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730752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4187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00" dirty="0" smtClean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новых источников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743200" y="4425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giprozem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74320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с фермерами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641848" y="2587752"/>
            <a:ext cx="402336" cy="40233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92040" y="3200400"/>
            <a:ext cx="1920240" cy="1737360"/>
          </a:xfrm>
          <a:prstGeom prst="rect">
            <a:avLst/>
          </a:prstGeom>
          <a:solidFill>
            <a:srgbClr val="111A12"/>
          </a:solidFill>
          <a:ln w="12700">
            <a:solidFill>
              <a:srgbClr val="EAB30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892040" y="3200400"/>
            <a:ext cx="1920240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92040" y="3218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месяцев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730752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83480" y="4187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ЦА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983480" y="4425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пилот МСХ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98348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PWA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836408" y="2587752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086600" y="3200400"/>
            <a:ext cx="1920240" cy="1737360"/>
          </a:xfrm>
          <a:prstGeom prst="rect">
            <a:avLst/>
          </a:prstGeom>
          <a:solidFill>
            <a:srgbClr val="111A12"/>
          </a:solidFill>
          <a:ln w="1270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086600" y="3200400"/>
            <a:ext cx="192024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086600" y="32186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год</a:t>
            </a:r>
            <a:endParaRPr lang="en-US" sz="13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3730752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178040" y="4187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агрохолдинги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178040" y="44256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UZ/KG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178040" y="46634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Самоокупаемость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Алмат\Downloads\photo_5195206503424528928_w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8" t="28497" r="7291" b="18643"/>
          <a:stretch/>
        </p:blipFill>
        <p:spPr bwMode="auto">
          <a:xfrm>
            <a:off x="6090076" y="1089661"/>
            <a:ext cx="1362284" cy="137922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ХАКАТЯТА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801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· Full-Stack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53312" y="356616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53312" y="3566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Координация проекта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353312" y="393192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2051" name="Picture 3" descr="C:\Users\Алмат\Downloads\photo_5195206503424528929_w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" t="41261" r="10916" b="10621"/>
          <a:stretch/>
        </p:blipFill>
        <p:spPr bwMode="auto">
          <a:xfrm>
            <a:off x="1783081" y="1089660"/>
            <a:ext cx="1371600" cy="141414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8"/>
          <p:cNvSpPr/>
          <p:nvPr/>
        </p:nvSpPr>
        <p:spPr>
          <a:xfrm>
            <a:off x="1353312" y="39319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+ Laravel 13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53312" y="429768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1097279"/>
            <a:ext cx="1371600" cy="1406521"/>
          </a:xfrm>
          <a:prstGeom prst="ellips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53312" y="4297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и тестирование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53312" y="466344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53312" y="4663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57784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Бекзодбек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5778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· AI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650992" y="356616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50992" y="35661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автоматизация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650992" y="393192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50992" y="39319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интеграции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650992" y="429768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650992" y="4297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(Haiku)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650992" y="4663440"/>
            <a:ext cx="2240280" cy="292608"/>
          </a:xfrm>
          <a:prstGeom prst="rect">
            <a:avLst/>
          </a:prstGeom>
          <a:solidFill>
            <a:srgbClr val="1A2E1B"/>
          </a:solidFill>
          <a:ln w="12700">
            <a:solidFill>
              <a:srgbClr val="3A4E3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50992" y="4663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данных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3A4E3B"/>
          </a:solidFill>
          <a:ln w="12700">
            <a:solidFill>
              <a:srgbClr val="3A4E3B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788920"/>
            <a:ext cx="1280160" cy="1280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080760" y="1097280"/>
            <a:ext cx="1371600" cy="1371600"/>
          </a:xfrm>
          <a:prstGeom prst="ellipse">
            <a:avLst/>
          </a:prstGeom>
          <a:noFill/>
          <a:ln w="12700">
            <a:solidFill>
              <a:srgbClr val="4ADE80"/>
            </a:solidFill>
            <a:prstDash val="solid"/>
          </a:ln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r="12797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0"/>
          <p:cNvSpPr/>
          <p:nvPr/>
        </p:nvSpPr>
        <p:spPr>
          <a:xfrm>
            <a:off x="457200" y="563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44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</a:t>
            </a:r>
            <a:r>
              <a:rPr lang="ru-RU" sz="4400" b="1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внимание</a:t>
            </a:r>
            <a:r>
              <a:rPr lang="ru-RU" sz="44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4400" b="1" dirty="0">
              <a:ln>
                <a:solidFill>
                  <a:schemeClr val="bg1">
                    <a:lumMod val="9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63853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572</Words>
  <Application>Microsoft Office PowerPoint</Application>
  <PresentationFormat>Экран (16:9)</PresentationFormat>
  <Paragraphs>204</Paragraphs>
  <Slides>14</Slides>
  <Notes>14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AgroMind KZ — Pitch Deck</dc:title>
  <dc:subject>PptxGenJS Presentation</dc:subject>
  <dc:creator>PptxGenJS</dc:creator>
  <cp:lastModifiedBy>Алмат</cp:lastModifiedBy>
  <cp:revision>9</cp:revision>
  <dcterms:created xsi:type="dcterms:W3CDTF">2026-05-03T16:57:51Z</dcterms:created>
  <dcterms:modified xsi:type="dcterms:W3CDTF">2026-05-12T05:13:41Z</dcterms:modified>
</cp:coreProperties>
</file>